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46" r:id="rId1"/>
  </p:sldMasterIdLst>
  <p:notesMasterIdLst>
    <p:notesMasterId r:id="rId7"/>
  </p:notesMasterIdLst>
  <p:sldIdLst>
    <p:sldId id="257" r:id="rId2"/>
    <p:sldId id="259" r:id="rId3"/>
    <p:sldId id="261" r:id="rId4"/>
    <p:sldId id="262" r:id="rId5"/>
    <p:sldId id="263"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9D1C86-358F-493E-8ACE-0217E749CB1B}" type="datetimeFigureOut">
              <a:rPr lang="en-US" smtClean="0"/>
              <a:t>9/15/2025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E20037-BC38-4A7E-A810-B752EF2D2D40}" type="slidenum">
              <a:rPr lang="en-US" smtClean="0"/>
              <a:t>‹#›</a:t>
            </a:fld>
            <a:endParaRPr lang="en-US"/>
          </a:p>
        </p:txBody>
      </p:sp>
    </p:spTree>
    <p:extLst>
      <p:ext uri="{BB962C8B-B14F-4D97-AF65-F5344CB8AC3E}">
        <p14:creationId xmlns:p14="http://schemas.microsoft.com/office/powerpoint/2010/main" val="294701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9/15/2025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9/15/2025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9/15/2025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9/15/2025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9/15/2025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9/15/2025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9/15/2025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9/15/2025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9/15/2025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9/15/2025</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9/15/2025</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9/15/2025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fontScale="90000"/>
          </a:bodyPr>
          <a:lstStyle/>
          <a:p>
            <a:r>
              <a:rPr lang="en-US" sz="8000" dirty="0"/>
              <a:t>MOVIE RATING PREDICTOR</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r>
              <a:rPr lang="en-US" sz="2400" dirty="0">
                <a:solidFill>
                  <a:schemeClr val="tx1">
                    <a:lumMod val="85000"/>
                    <a:lumOff val="15000"/>
                  </a:schemeClr>
                </a:solidFill>
              </a:rPr>
              <a:t>Made by Mohammed Raghib</a:t>
            </a: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320120C-5B65-4486-960C-FA62A1F3AACC}"/>
              </a:ext>
            </a:extLst>
          </p:cNvPr>
          <p:cNvSpPr/>
          <p:nvPr/>
        </p:nvSpPr>
        <p:spPr>
          <a:xfrm>
            <a:off x="942680" y="4345757"/>
            <a:ext cx="10369485" cy="499620"/>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F92D845-BE5F-4337-8045-67E4D39E9FE6}"/>
              </a:ext>
            </a:extLst>
          </p:cNvPr>
          <p:cNvSpPr txBox="1"/>
          <p:nvPr/>
        </p:nvSpPr>
        <p:spPr>
          <a:xfrm>
            <a:off x="179388" y="433632"/>
            <a:ext cx="6853287" cy="769441"/>
          </a:xfrm>
          <a:prstGeom prst="rect">
            <a:avLst/>
          </a:prstGeom>
          <a:noFill/>
        </p:spPr>
        <p:txBody>
          <a:bodyPr wrap="square" rtlCol="0">
            <a:spAutoFit/>
          </a:bodyPr>
          <a:lstStyle/>
          <a:p>
            <a:r>
              <a:rPr lang="en-US" sz="4400" b="1" dirty="0">
                <a:latin typeface="+mj-lt"/>
              </a:rPr>
              <a:t>Problem Statement</a:t>
            </a:r>
          </a:p>
        </p:txBody>
      </p:sp>
      <p:sp>
        <p:nvSpPr>
          <p:cNvPr id="6" name="Rectangle 3">
            <a:extLst>
              <a:ext uri="{FF2B5EF4-FFF2-40B4-BE49-F238E27FC236}">
                <a16:creationId xmlns:a16="http://schemas.microsoft.com/office/drawing/2014/main" id="{E5C6DADB-9D6B-494F-9B32-058126721D40}"/>
              </a:ext>
            </a:extLst>
          </p:cNvPr>
          <p:cNvSpPr>
            <a:spLocks noGrp="1" noChangeArrowheads="1"/>
          </p:cNvSpPr>
          <p:nvPr>
            <p:ph type="ctrTitle"/>
          </p:nvPr>
        </p:nvSpPr>
        <p:spPr bwMode="auto">
          <a:xfrm>
            <a:off x="179388" y="1897094"/>
            <a:ext cx="12012612"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Movie studios and streaming platforms need to estimate how well a movie will perform </a:t>
            </a:r>
            <a:r>
              <a:rPr kumimoji="0" lang="en-US" altLang="en-US" sz="3200" b="1" i="0" u="none" strike="noStrike" cap="none" normalizeH="0" baseline="0" dirty="0">
                <a:ln>
                  <a:noFill/>
                </a:ln>
                <a:solidFill>
                  <a:schemeClr val="tx1"/>
                </a:solidFill>
                <a:effectLst/>
                <a:latin typeface="Arial" panose="020B0604020202020204" pitchFamily="34" charset="0"/>
              </a:rPr>
              <a:t>before release</a:t>
            </a:r>
            <a:r>
              <a:rPr kumimoji="0" lang="en-US" altLang="en-US" sz="3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Predicting audience ratings helps in decision-making for </a:t>
            </a:r>
            <a:r>
              <a:rPr kumimoji="0" lang="en-US" altLang="en-US" sz="3200" b="1" i="0" u="none" strike="noStrike" cap="none" normalizeH="0" baseline="0" dirty="0">
                <a:ln>
                  <a:noFill/>
                </a:ln>
                <a:solidFill>
                  <a:schemeClr val="tx1"/>
                </a:solidFill>
                <a:effectLst/>
                <a:latin typeface="Arial" panose="020B0604020202020204" pitchFamily="34" charset="0"/>
              </a:rPr>
              <a:t>budget allocation, marketing strategies, and risk reduction</a:t>
            </a:r>
            <a:r>
              <a:rPr kumimoji="0" lang="en-US" altLang="en-US" sz="3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Key question: </a:t>
            </a:r>
            <a:r>
              <a:rPr kumimoji="0" lang="en-US" altLang="en-US" sz="3200" b="0" i="1" u="none" strike="noStrike" cap="none" normalizeH="0" baseline="0" dirty="0">
                <a:ln>
                  <a:noFill/>
                </a:ln>
                <a:solidFill>
                  <a:schemeClr val="tx1"/>
                </a:solidFill>
                <a:effectLst/>
                <a:latin typeface="Arial" panose="020B0604020202020204" pitchFamily="34" charset="0"/>
              </a:rPr>
              <a:t>“Can we predict a movie’s rating using its metadata?”</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96383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320120C-5B65-4486-960C-FA62A1F3AACC}"/>
              </a:ext>
            </a:extLst>
          </p:cNvPr>
          <p:cNvSpPr/>
          <p:nvPr/>
        </p:nvSpPr>
        <p:spPr>
          <a:xfrm>
            <a:off x="942680" y="4345757"/>
            <a:ext cx="10369485" cy="499620"/>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F92D845-BE5F-4337-8045-67E4D39E9FE6}"/>
              </a:ext>
            </a:extLst>
          </p:cNvPr>
          <p:cNvSpPr txBox="1"/>
          <p:nvPr/>
        </p:nvSpPr>
        <p:spPr>
          <a:xfrm>
            <a:off x="179388" y="433632"/>
            <a:ext cx="6853287" cy="769441"/>
          </a:xfrm>
          <a:prstGeom prst="rect">
            <a:avLst/>
          </a:prstGeom>
          <a:noFill/>
        </p:spPr>
        <p:txBody>
          <a:bodyPr wrap="square" rtlCol="0">
            <a:spAutoFit/>
          </a:bodyPr>
          <a:lstStyle/>
          <a:p>
            <a:r>
              <a:rPr lang="en-US" sz="4400" b="1" dirty="0">
                <a:latin typeface="+mj-lt"/>
              </a:rPr>
              <a:t>Dataset Overview</a:t>
            </a:r>
          </a:p>
        </p:txBody>
      </p:sp>
      <p:sp>
        <p:nvSpPr>
          <p:cNvPr id="5" name="Rectangle 2">
            <a:extLst>
              <a:ext uri="{FF2B5EF4-FFF2-40B4-BE49-F238E27FC236}">
                <a16:creationId xmlns:a16="http://schemas.microsoft.com/office/drawing/2014/main" id="{18D9AE62-F8D8-4A0B-ADD2-228397521230}"/>
              </a:ext>
            </a:extLst>
          </p:cNvPr>
          <p:cNvSpPr>
            <a:spLocks noGrp="1" noChangeArrowheads="1"/>
          </p:cNvSpPr>
          <p:nvPr>
            <p:ph type="ctrTitle"/>
          </p:nvPr>
        </p:nvSpPr>
        <p:spPr bwMode="auto">
          <a:xfrm>
            <a:off x="301796" y="1561644"/>
            <a:ext cx="11651251"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Source: </a:t>
            </a:r>
            <a:r>
              <a:rPr kumimoji="0" lang="en-US" altLang="en-US" sz="3200" b="1" i="0" u="none" strike="noStrike" cap="none" normalizeH="0" baseline="0" dirty="0" err="1">
                <a:ln>
                  <a:noFill/>
                </a:ln>
                <a:solidFill>
                  <a:schemeClr val="tx1"/>
                </a:solidFill>
                <a:effectLst/>
                <a:latin typeface="Arial" panose="020B0604020202020204" pitchFamily="34" charset="0"/>
              </a:rPr>
              <a:t>TMDb</a:t>
            </a:r>
            <a:r>
              <a:rPr kumimoji="0" lang="en-US" altLang="en-US" sz="3200" b="1" i="0" u="none" strike="noStrike" cap="none" normalizeH="0" baseline="0" dirty="0">
                <a:ln>
                  <a:noFill/>
                </a:ln>
                <a:solidFill>
                  <a:schemeClr val="tx1"/>
                </a:solidFill>
                <a:effectLst/>
                <a:latin typeface="Arial" panose="020B0604020202020204" pitchFamily="34" charset="0"/>
              </a:rPr>
              <a:t> 5000 Movie Dataset</a:t>
            </a:r>
            <a:r>
              <a:rPr kumimoji="0" lang="en-US" altLang="en-US" sz="3200" b="0" i="0" u="none" strike="noStrike" cap="none" normalizeH="0" baseline="0" dirty="0">
                <a:ln>
                  <a:noFill/>
                </a:ln>
                <a:solidFill>
                  <a:schemeClr val="tx1"/>
                </a:solidFill>
                <a:effectLst/>
                <a:latin typeface="Arial" panose="020B0604020202020204" pitchFamily="34" charset="0"/>
              </a:rPr>
              <a:t> (Kaggle)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Contains </a:t>
            </a:r>
            <a:r>
              <a:rPr kumimoji="0" lang="en-US" altLang="en-US" sz="3200" b="1" i="0" u="none" strike="noStrike" cap="none" normalizeH="0" baseline="0" dirty="0">
                <a:ln>
                  <a:noFill/>
                </a:ln>
                <a:solidFill>
                  <a:schemeClr val="tx1"/>
                </a:solidFill>
                <a:effectLst/>
                <a:latin typeface="Arial" panose="020B0604020202020204" pitchFamily="34" charset="0"/>
              </a:rPr>
              <a:t>5,000+ movies</a:t>
            </a:r>
            <a:r>
              <a:rPr kumimoji="0" lang="en-US" altLang="en-US" sz="3200" b="0" i="0" u="none" strike="noStrike" cap="none" normalizeH="0" baseline="0" dirty="0">
                <a:ln>
                  <a:noFill/>
                </a:ln>
                <a:solidFill>
                  <a:schemeClr val="tx1"/>
                </a:solidFill>
                <a:effectLst/>
                <a:latin typeface="Arial" panose="020B0604020202020204" pitchFamily="34" charset="0"/>
              </a:rPr>
              <a:t> with rich metadata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Features include:</a:t>
            </a:r>
          </a:p>
          <a:p>
            <a:pPr marR="0" lvl="0" algn="l" defTabSz="914400" rtl="0" eaLnBrk="0" fontAlgn="base" latinLnBrk="0" hangingPunct="0">
              <a:lnSpc>
                <a:spcPct val="100000"/>
              </a:lnSpc>
              <a:spcBef>
                <a:spcPct val="0"/>
              </a:spcBef>
              <a:spcAft>
                <a:spcPct val="0"/>
              </a:spcAft>
              <a:buClrTx/>
              <a:buSzTx/>
              <a:tabLst/>
            </a:pPr>
            <a:r>
              <a:rPr lang="en-US" altLang="en-US" sz="3200" dirty="0">
                <a:solidFill>
                  <a:schemeClr val="tx1"/>
                </a:solidFill>
                <a:latin typeface="Arial" panose="020B0604020202020204" pitchFamily="34" charset="0"/>
              </a:rPr>
              <a:t>    </a:t>
            </a:r>
            <a:r>
              <a:rPr kumimoji="0" lang="en-US" altLang="en-US" sz="3200" b="0" i="0" u="none" strike="noStrike" cap="none" normalizeH="0" baseline="0" dirty="0">
                <a:ln>
                  <a:noFill/>
                </a:ln>
                <a:solidFill>
                  <a:schemeClr val="tx1"/>
                </a:solidFill>
                <a:effectLst/>
                <a:latin typeface="Arial" panose="020B0604020202020204" pitchFamily="34" charset="0"/>
              </a:rPr>
              <a:t>Budget</a:t>
            </a:r>
            <a:br>
              <a:rPr kumimoji="0" lang="en-US" altLang="en-US" sz="3200" b="0" i="0" u="none" strike="noStrike" cap="none" normalizeH="0" baseline="0" dirty="0">
                <a:ln>
                  <a:noFill/>
                </a:ln>
                <a:solidFill>
                  <a:schemeClr val="tx1"/>
                </a:solidFill>
                <a:effectLst/>
                <a:latin typeface="Arial" panose="020B0604020202020204" pitchFamily="34" charset="0"/>
              </a:rPr>
            </a:br>
            <a:r>
              <a:rPr kumimoji="0" lang="en-US" altLang="en-US" sz="3200" b="0" i="0" u="none" strike="noStrike" cap="none" normalizeH="0" baseline="0" dirty="0">
                <a:ln>
                  <a:noFill/>
                </a:ln>
                <a:solidFill>
                  <a:schemeClr val="tx1"/>
                </a:solidFill>
                <a:effectLst/>
                <a:latin typeface="Arial" panose="020B0604020202020204" pitchFamily="34" charset="0"/>
              </a:rPr>
              <a:t>    Runtime</a:t>
            </a:r>
            <a:br>
              <a:rPr kumimoji="0" lang="en-US" altLang="en-US" sz="3200" b="0" i="0" u="none" strike="noStrike" cap="none" normalizeH="0" baseline="0" dirty="0">
                <a:ln>
                  <a:noFill/>
                </a:ln>
                <a:solidFill>
                  <a:schemeClr val="tx1"/>
                </a:solidFill>
                <a:effectLst/>
                <a:latin typeface="Arial" panose="020B0604020202020204" pitchFamily="34" charset="0"/>
              </a:rPr>
            </a:br>
            <a:r>
              <a:rPr kumimoji="0" lang="en-US" altLang="en-US" sz="3200" b="0" i="0" u="none" strike="noStrike" cap="none" normalizeH="0" baseline="0" dirty="0">
                <a:ln>
                  <a:noFill/>
                </a:ln>
                <a:solidFill>
                  <a:schemeClr val="tx1"/>
                </a:solidFill>
                <a:effectLst/>
                <a:latin typeface="Arial" panose="020B0604020202020204" pitchFamily="34" charset="0"/>
              </a:rPr>
              <a:t>    Popularity</a:t>
            </a:r>
          </a:p>
          <a:p>
            <a:pPr marR="0" lvl="0" algn="l" defTabSz="914400" rtl="0" eaLnBrk="0" fontAlgn="base" latinLnBrk="0" hangingPunct="0">
              <a:lnSpc>
                <a:spcPct val="100000"/>
              </a:lnSpc>
              <a:spcBef>
                <a:spcPct val="0"/>
              </a:spcBef>
              <a:spcAft>
                <a:spcPct val="0"/>
              </a:spcAft>
              <a:buClrTx/>
              <a:buSzTx/>
              <a:tabLst/>
            </a:pPr>
            <a:r>
              <a:rPr lang="en-US" altLang="en-US" sz="3200" dirty="0">
                <a:solidFill>
                  <a:schemeClr val="tx1"/>
                </a:solidFill>
                <a:latin typeface="Arial" panose="020B0604020202020204" pitchFamily="34" charset="0"/>
              </a:rPr>
              <a:t>    </a:t>
            </a:r>
            <a:r>
              <a:rPr kumimoji="0" lang="en-US" altLang="en-US" sz="3200" b="0" i="0" u="none" strike="noStrike" cap="none" normalizeH="0" baseline="0" dirty="0">
                <a:ln>
                  <a:noFill/>
                </a:ln>
                <a:solidFill>
                  <a:schemeClr val="tx1"/>
                </a:solidFill>
                <a:effectLst/>
                <a:latin typeface="Arial" panose="020B0604020202020204" pitchFamily="34" charset="0"/>
              </a:rPr>
              <a:t>Release date</a:t>
            </a:r>
            <a:br>
              <a:rPr kumimoji="0" lang="en-US" altLang="en-US" sz="3200" b="0" i="0" u="none" strike="noStrike" cap="none" normalizeH="0" baseline="0" dirty="0">
                <a:ln>
                  <a:noFill/>
                </a:ln>
                <a:solidFill>
                  <a:schemeClr val="tx1"/>
                </a:solidFill>
                <a:effectLst/>
                <a:latin typeface="Arial" panose="020B0604020202020204" pitchFamily="34" charset="0"/>
              </a:rPr>
            </a:br>
            <a:r>
              <a:rPr kumimoji="0" lang="en-US" altLang="en-US" sz="3200" b="0" i="0" u="none" strike="noStrike" cap="none" normalizeH="0" baseline="0" dirty="0">
                <a:ln>
                  <a:noFill/>
                </a:ln>
                <a:solidFill>
                  <a:schemeClr val="tx1"/>
                </a:solidFill>
                <a:effectLst/>
                <a:latin typeface="Arial" panose="020B0604020202020204" pitchFamily="34" charset="0"/>
              </a:rPr>
              <a:t>    Genres</a:t>
            </a:r>
            <a:br>
              <a:rPr kumimoji="0" lang="en-US" altLang="en-US" sz="3200" b="0" i="0" u="none" strike="noStrike" cap="none" normalizeH="0" baseline="0" dirty="0">
                <a:ln>
                  <a:noFill/>
                </a:ln>
                <a:solidFill>
                  <a:schemeClr val="tx1"/>
                </a:solidFill>
                <a:effectLst/>
                <a:latin typeface="Arial" panose="020B0604020202020204" pitchFamily="34" charset="0"/>
              </a:rPr>
            </a:br>
            <a:r>
              <a:rPr lang="en-US" altLang="en-US" sz="3200" dirty="0">
                <a:solidFill>
                  <a:schemeClr val="tx1"/>
                </a:solidFill>
                <a:latin typeface="Arial" panose="020B0604020202020204" pitchFamily="34" charset="0"/>
              </a:rPr>
              <a:t>    </a:t>
            </a:r>
            <a:r>
              <a:rPr kumimoji="0" lang="en-US" altLang="en-US" sz="3200" b="0" i="0" u="none" strike="noStrike" cap="none" normalizeH="0" baseline="0" dirty="0">
                <a:ln>
                  <a:noFill/>
                </a:ln>
                <a:solidFill>
                  <a:schemeClr val="tx1"/>
                </a:solidFill>
                <a:effectLst/>
                <a:latin typeface="Arial" panose="020B0604020202020204" pitchFamily="34" charset="0"/>
              </a:rPr>
              <a:t>Vote average (target)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98449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320120C-5B65-4486-960C-FA62A1F3AACC}"/>
              </a:ext>
            </a:extLst>
          </p:cNvPr>
          <p:cNvSpPr/>
          <p:nvPr/>
        </p:nvSpPr>
        <p:spPr>
          <a:xfrm>
            <a:off x="942680" y="4345757"/>
            <a:ext cx="10369485" cy="499620"/>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F92D845-BE5F-4337-8045-67E4D39E9FE6}"/>
              </a:ext>
            </a:extLst>
          </p:cNvPr>
          <p:cNvSpPr txBox="1"/>
          <p:nvPr/>
        </p:nvSpPr>
        <p:spPr>
          <a:xfrm>
            <a:off x="179388" y="433632"/>
            <a:ext cx="6853287" cy="769441"/>
          </a:xfrm>
          <a:prstGeom prst="rect">
            <a:avLst/>
          </a:prstGeom>
          <a:noFill/>
        </p:spPr>
        <p:txBody>
          <a:bodyPr wrap="square" rtlCol="0">
            <a:spAutoFit/>
          </a:bodyPr>
          <a:lstStyle/>
          <a:p>
            <a:r>
              <a:rPr lang="en-US" sz="4400" b="1" dirty="0">
                <a:latin typeface="+mj-lt"/>
              </a:rPr>
              <a:t>Methodology</a:t>
            </a:r>
          </a:p>
        </p:txBody>
      </p:sp>
      <p:sp>
        <p:nvSpPr>
          <p:cNvPr id="6" name="Rectangle 3">
            <a:extLst>
              <a:ext uri="{FF2B5EF4-FFF2-40B4-BE49-F238E27FC236}">
                <a16:creationId xmlns:a16="http://schemas.microsoft.com/office/drawing/2014/main" id="{E5C6DADB-9D6B-494F-9B32-058126721D40}"/>
              </a:ext>
            </a:extLst>
          </p:cNvPr>
          <p:cNvSpPr>
            <a:spLocks noGrp="1" noChangeArrowheads="1"/>
          </p:cNvSpPr>
          <p:nvPr>
            <p:ph type="ctrTitle"/>
          </p:nvPr>
        </p:nvSpPr>
        <p:spPr bwMode="auto">
          <a:xfrm>
            <a:off x="179388" y="1567404"/>
            <a:ext cx="1201261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buFontTx/>
              <a:buChar char="•"/>
            </a:pPr>
            <a:r>
              <a:rPr lang="en-US" sz="2800" dirty="0"/>
              <a:t>The project followed a structured machine learning workflow.</a:t>
            </a:r>
            <a:br>
              <a:rPr lang="en-US" sz="2800" dirty="0"/>
            </a:br>
            <a:r>
              <a:rPr lang="en-US" sz="2800" dirty="0"/>
              <a:t>began with exploratory data analysis to understand patterns and clean inconsistencies in the dataset.</a:t>
            </a:r>
            <a:br>
              <a:rPr lang="en-US" sz="2800" dirty="0"/>
            </a:br>
            <a:r>
              <a:rPr lang="en-US" sz="2800" dirty="0"/>
              <a:t>Next, performed feature engineering, such as encoding categorical variables like genres.</a:t>
            </a:r>
            <a:br>
              <a:rPr lang="en-US" sz="2800" dirty="0"/>
            </a:br>
            <a:r>
              <a:rPr lang="en-US" sz="2800" dirty="0"/>
              <a:t>We then trained different models, including Lasso Regression and Random Forest, to learn the best model.</a:t>
            </a:r>
            <a:br>
              <a:rPr lang="en-US" sz="2800" dirty="0"/>
            </a:br>
            <a:r>
              <a:rPr lang="en-US" sz="2800" dirty="0"/>
              <a:t>Finally, we evaluated model performance using metrics like RMSE, MAE, and R² to determine accuracy and reliability.</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94532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320120C-5B65-4486-960C-FA62A1F3AACC}"/>
              </a:ext>
            </a:extLst>
          </p:cNvPr>
          <p:cNvSpPr/>
          <p:nvPr/>
        </p:nvSpPr>
        <p:spPr>
          <a:xfrm>
            <a:off x="942680" y="4345757"/>
            <a:ext cx="10369485" cy="499620"/>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F92D845-BE5F-4337-8045-67E4D39E9FE6}"/>
              </a:ext>
            </a:extLst>
          </p:cNvPr>
          <p:cNvSpPr txBox="1"/>
          <p:nvPr/>
        </p:nvSpPr>
        <p:spPr>
          <a:xfrm>
            <a:off x="179388" y="433632"/>
            <a:ext cx="6853287" cy="769441"/>
          </a:xfrm>
          <a:prstGeom prst="rect">
            <a:avLst/>
          </a:prstGeom>
          <a:noFill/>
        </p:spPr>
        <p:txBody>
          <a:bodyPr wrap="square" rtlCol="0">
            <a:spAutoFit/>
          </a:bodyPr>
          <a:lstStyle/>
          <a:p>
            <a:r>
              <a:rPr lang="en-US" sz="4400" b="1" dirty="0">
                <a:latin typeface="+mj-lt"/>
              </a:rPr>
              <a:t>Results and Insights</a:t>
            </a:r>
          </a:p>
        </p:txBody>
      </p:sp>
      <p:sp>
        <p:nvSpPr>
          <p:cNvPr id="6" name="Rectangle 3">
            <a:extLst>
              <a:ext uri="{FF2B5EF4-FFF2-40B4-BE49-F238E27FC236}">
                <a16:creationId xmlns:a16="http://schemas.microsoft.com/office/drawing/2014/main" id="{E5C6DADB-9D6B-494F-9B32-058126721D40}"/>
              </a:ext>
            </a:extLst>
          </p:cNvPr>
          <p:cNvSpPr>
            <a:spLocks noGrp="1" noChangeArrowheads="1"/>
          </p:cNvSpPr>
          <p:nvPr>
            <p:ph type="ctrTitle"/>
          </p:nvPr>
        </p:nvSpPr>
        <p:spPr bwMode="auto">
          <a:xfrm>
            <a:off x="179388" y="1782848"/>
            <a:ext cx="1201261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buFontTx/>
              <a:buChar char="•"/>
            </a:pPr>
            <a:r>
              <a:rPr lang="en-US" sz="2800" dirty="0"/>
              <a:t>Several models were tested, including Random Forest, Gradient Boosting, Extra Trees, and Lasso Regression.</a:t>
            </a:r>
            <a:br>
              <a:rPr lang="en-US" sz="2800" dirty="0"/>
            </a:br>
            <a:r>
              <a:rPr lang="en-US" sz="2800" dirty="0"/>
              <a:t>Ensemble approaches improved results but suffered from significant overfitting.</a:t>
            </a:r>
            <a:br>
              <a:rPr lang="en-US" sz="2800" dirty="0"/>
            </a:br>
            <a:r>
              <a:rPr lang="en-US" sz="2800" dirty="0" err="1"/>
              <a:t>LightGBM</a:t>
            </a:r>
            <a:r>
              <a:rPr lang="en-US" sz="2800" dirty="0"/>
              <a:t> was ultimately chosen as the final model, as it provided the best balance between accuracy and generalization.</a:t>
            </a:r>
            <a:br>
              <a:rPr lang="en-US" sz="2800" dirty="0"/>
            </a:br>
            <a:r>
              <a:rPr lang="en-US" sz="2800" dirty="0"/>
              <a:t>genres strongly influenced ratings, while budget and popularity were weaker predictors.</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99403025"/>
      </p:ext>
    </p:extLst>
  </p:cSld>
  <p:clrMapOvr>
    <a:masterClrMapping/>
  </p:clrMapOvr>
</p:sld>
</file>

<file path=ppt/theme/theme1.xml><?xml version="1.0" encoding="utf-8"?>
<a:theme xmlns:a="http://schemas.openxmlformats.org/drawingml/2006/main" name="1_RetrospectVTI">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769520F8-BFE5-4C8C-A7AA-375C025A91CE}" vid="{AEAFD717-D3C8-4034-8F7E-D5220B0CCE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Urban monochrome</Template>
  <TotalTime>0</TotalTime>
  <Words>250</Words>
  <Application>Microsoft Office PowerPoint</Application>
  <PresentationFormat>Widescreen</PresentationFormat>
  <Paragraphs>16</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Bookman Old Style</vt:lpstr>
      <vt:lpstr>Calibri</vt:lpstr>
      <vt:lpstr>Franklin Gothic Book</vt:lpstr>
      <vt:lpstr>1_RetrospectVTI</vt:lpstr>
      <vt:lpstr>MOVIE RATING PREDICTOR</vt:lpstr>
      <vt:lpstr>Movie studios and streaming platforms need to estimate how well a movie will perform before release. Predicting audience ratings helps in decision-making for budget allocation, marketing strategies, and risk reduction. Key question: “Can we predict a movie’s rating using its metadata?”</vt:lpstr>
      <vt:lpstr>Source: TMDb 5000 Movie Dataset (Kaggle) Contains 5,000+ movies with rich metadata Features include:     Budget     Runtime     Popularity     Release date     Genres     Vote average (target) </vt:lpstr>
      <vt:lpstr>The project followed a structured machine learning workflow. began with exploratory data analysis to understand patterns and clean inconsistencies in the dataset. Next, performed feature engineering, such as encoding categorical variables like genres. We then trained different models, including Lasso Regression and Random Forest, to learn the best model. Finally, we evaluated model performance using metrics like RMSE, MAE, and R² to determine accuracy and reliability.</vt:lpstr>
      <vt:lpstr>Several models were tested, including Random Forest, Gradient Boosting, Extra Trees, and Lasso Regression. Ensemble approaches improved results but suffered from significant overfitting. LightGBM was ultimately chosen as the final model, as it provided the best balance between accuracy and generalization. genres strongly influenced ratings, while budget and popularity were weaker predictors.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2025-09-15T07:37:12Z</dcterms:created>
  <dcterms:modified xsi:type="dcterms:W3CDTF">2025-09-15T07:58:58Z</dcterms:modified>
</cp:coreProperties>
</file>